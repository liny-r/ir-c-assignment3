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1031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MTH9877 — Interest Rates &amp; 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Four extension tracks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Duration Distributions &amp; Covariate Profiles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Prepaid: median ~40 mo  |  Defaulted: median ~55 mo  |  full 34M-loan dataset</a:t>
            </a:r>
          </a:p>
        </p:txBody>
      </p:sp>
      <p:pic>
        <p:nvPicPr>
          <p:cNvPr id="5" name="Picture 4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11887200" cy="36966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Vintage Cohort &amp; Categorical Breakdown</a:t>
            </a:r>
          </a:p>
        </p:txBody>
      </p:sp>
      <p:pic>
        <p:nvPicPr>
          <p:cNvPr id="4" name="Picture 3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315200" cy="2499743"/>
          </a:xfrm>
          <a:prstGeom prst="rect">
            <a:avLst/>
          </a:prstGeom>
        </p:spPr>
      </p:pic>
      <p:pic>
        <p:nvPicPr>
          <p:cNvPr id="5" name="Picture 4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051560"/>
            <a:ext cx="4389120" cy="16005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Hazard Intensity: Prepayment Peaks Early, Default Rises Slowly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Cause-specific Nelson-Aalen smooth · burnout visible in prepayment hazard · 100K sample</a:t>
            </a:r>
          </a:p>
        </p:txBody>
      </p:sp>
      <p:pic>
        <p:nvPicPr>
          <p:cNvPr id="5" name="Picture 4" descr="E1_hazard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6297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Stratified Hazard Intensity by FICO · LTV · Rate · Vintage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High-FICO refinances fastest · High-LTV defaults persist longer · GFC vintages spike</a:t>
            </a:r>
          </a:p>
        </p:txBody>
      </p:sp>
      <p:pic>
        <p:nvPicPr>
          <p:cNvPr id="5" name="Picture 4" descr="E1_hazard_strat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06320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Correct competing-risks treatment; 10-yr prepay ≈ 45%,  default ≈ 2%</a:t>
            </a:r>
          </a:p>
        </p:txBody>
      </p:sp>
      <p:pic>
        <p:nvPicPr>
          <p:cNvPr id="5" name="Picture 4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343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Bias from Ignoring Competing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KM over-estimates prepayment CIF by treating defaults as independent censorings</a:t>
            </a:r>
          </a:p>
        </p:txBody>
      </p:sp>
      <p:pic>
        <p:nvPicPr>
          <p:cNvPr id="5" name="Picture 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402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4754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+2.23 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5" name="Picture 4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68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 Regression  (12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Opposite-sign coefficients reveal misrepresentation in naive combined Cox</a:t>
            </a:r>
          </a:p>
        </p:txBody>
      </p:sp>
      <p:pic>
        <p:nvPicPr>
          <p:cNvPr id="5" name="Picture 4" descr="E1_cause_specific_c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12880" cy="386056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IPCW-weighted Cox approximation; coefficients directly target the CIF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Subjects who experienced a competing event (default) are KEPT in the risk set with IPCW weights</a:t>
            </a:r>
          </a:p>
          <a:p>
            <a:pPr>
              <a:spcAft>
                <a:spcPts val="400"/>
              </a:spcAft>
              <a:defRPr sz="1400"/>
            </a:pPr>
            <a:r>
              <a:t>• The subdistribution hazard integrates to the CIF — covariate effects are CIF effects</a:t>
            </a:r>
          </a:p>
          <a:p>
            <a:pPr>
              <a:spcAft>
                <a:spcPts val="400"/>
              </a:spcAft>
              <a:defRPr sz="1400"/>
            </a:pPr>
            <a:r>
              <a:t>• rate_incentive HR is LARGER under Fine-Gray than cause-specific Cox:</a:t>
            </a:r>
          </a:p>
          <a:p>
            <a:pPr>
              <a:spcAft>
                <a:spcPts val="400"/>
              </a:spcAft>
              <a:defRPr sz="1400"/>
            </a:pPr>
            <a:r>
              <a:t>•    high-incentive loans are also less likely to default first → amplifies CIF effect</a:t>
            </a:r>
          </a:p>
          <a:p>
            <a:pPr>
              <a:spcAft>
                <a:spcPts val="400"/>
              </a:spcAft>
              <a:defRPr sz="1400"/>
            </a:pPr>
            <a:r>
              <a:t>• Low-FICO Fine-Gray HR for prepayment is ATTENUATED: elevated default risk reduces</a:t>
            </a:r>
          </a:p>
          <a:p>
            <a:pPr>
              <a:spcAft>
                <a:spcPts val="400"/>
              </a:spcAft>
              <a:defRPr sz="1400"/>
            </a:pPr>
            <a:r>
              <a:t>•    measured prepayment propensity once competing risks are accounted for</a:t>
            </a:r>
          </a:p>
          <a:p>
            <a:pPr>
              <a:spcAft>
                <a:spcPts val="400"/>
              </a:spcAft>
              <a:defRPr sz="14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4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TV Cox Results</a:t>
            </a:r>
          </a:p>
        </p:txBody>
      </p:sp>
      <p:pic>
        <p:nvPicPr>
          <p:cNvPr id="4" name="Picture 3" descr="Eii_tv_cox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3013704"/>
          </a:xfrm>
          <a:prstGeom prst="rect">
            <a:avLst/>
          </a:prstGeom>
        </p:spPr>
      </p:pic>
      <p:pic>
        <p:nvPicPr>
          <p:cNvPr id="5" name="Picture 4" descr="Eii_static_vs_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22473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5" name="Picture 4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Aalen-Johansen CIF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10-yr prepay ≈ 45%;  default ≈ 2%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KM vs AJ 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KM over-estimates by +0.5–2.2 pp at 5–20 yr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Stratified CIF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Crisis vintages 8–12× higher default 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Cause-specific Cox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CreditScore / LTV opposite signs across causes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Fine-Gray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rate_incentive HR larger vs cause-specific Cox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Andersen-Gill TV Cox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Current rate_incentive &gt; origination snapshot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Scenario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