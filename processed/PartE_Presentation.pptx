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21031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MTH9877 — Interest Rates &amp; 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Assignment 3 — Part E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Mortgage Prepayment &amp; Default  |  Survival Analysis Extensions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CF0F1"/>
                </a:solidFill>
              </a:rPr>
              <a:t>Rose Lin  ·  Baruch MFE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Part E —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Four extension tracks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/>
            </a:pPr>
            <a:r>
              <a:t>• E(i)   Competing Risks Framework — Aalen-Johansen CIF, KM bias, stratified CIF, cause-specific Cox, Fine-Gray</a:t>
            </a:r>
          </a:p>
          <a:p>
            <a:pPr>
              <a:spcAft>
                <a:spcPts val="400"/>
              </a:spcAft>
              <a:defRPr sz="1700"/>
            </a:pPr>
            <a:r>
              <a:t>• E(ii)  Time-Dependent Covariates — Andersen-Gill counting-process Cox with monthly macro</a:t>
            </a:r>
          </a:p>
          <a:p>
            <a:pPr>
              <a:spcAft>
                <a:spcPts val="400"/>
              </a:spcAft>
              <a:defRPr sz="1700"/>
            </a:pPr>
            <a:r>
              <a:t>• E(iii) Neural Survival Models — DeepHit framework (architecture overview)</a:t>
            </a:r>
          </a:p>
          <a:p>
            <a:pPr>
              <a:spcAft>
                <a:spcPts val="400"/>
              </a:spcAft>
              <a:defRPr sz="1700"/>
            </a:pPr>
            <a:r>
              <a:t>• E(iv)  Scenario Analysis — Prepayment sensitivity to ±200 bp rate shocks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Full 34M-Loan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Freddie Mac FRM-360, 1999–2023</a:t>
            </a:r>
          </a:p>
        </p:txBody>
      </p:sp>
      <p:pic>
        <p:nvPicPr>
          <p:cNvPr id="5" name="Picture 4" descr="E1_eda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11887200" cy="31961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Covariate Profiles &amp; Loan Categories</a:t>
            </a:r>
          </a:p>
        </p:txBody>
      </p:sp>
      <p:pic>
        <p:nvPicPr>
          <p:cNvPr id="4" name="Picture 3" descr="E1_eda_covari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2031941"/>
          </a:xfrm>
          <a:prstGeom prst="rect">
            <a:avLst/>
          </a:prstGeom>
        </p:spPr>
      </p:pic>
      <p:pic>
        <p:nvPicPr>
          <p:cNvPr id="5" name="Picture 4" descr="E1_eda_categor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1404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Vintage Cohort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2006–2008 vintages: peak default 8–12%; post-2012: near-zero default</a:t>
            </a:r>
          </a:p>
        </p:txBody>
      </p:sp>
      <p:pic>
        <p:nvPicPr>
          <p:cNvPr id="5" name="Picture 4" descr="E1_eda_vi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2003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Aalen-Johansen CIF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Correct competing-risks treatment; 10-yr prepay ≈ 45%,  default ≈ 2%</a:t>
            </a:r>
          </a:p>
        </p:txBody>
      </p:sp>
      <p:pic>
        <p:nvPicPr>
          <p:cNvPr id="5" name="Picture 4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343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E(i)(c) — KM vs AJ: Bias from Ignoring Competing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KM over-estimates prepayment CIF by treating defaults as independent censorings</a:t>
            </a:r>
          </a:p>
        </p:txBody>
      </p:sp>
      <p:pic>
        <p:nvPicPr>
          <p:cNvPr id="5" name="Picture 4" descr="E1_km_vs_aj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402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4754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5 yr: +0.45 pp</a:t>
            </a:r>
          </a:p>
          <a:p>
            <a:pPr>
              <a:spcAft>
                <a:spcPts val="400"/>
              </a:spcAft>
              <a:defRPr sz="1300"/>
            </a:pPr>
            <a:r>
              <a:t>• 10 yr: +1.31 pp</a:t>
            </a:r>
          </a:p>
          <a:p>
            <a:pPr>
              <a:spcAft>
                <a:spcPts val="400"/>
              </a:spcAft>
              <a:defRPr sz="1300"/>
            </a:pPr>
            <a:r>
              <a:t>• 20 yr: +2.23 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E(i)(d) — Stratified CIF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High-FICO → elevated prepayment, near-zero default;  high-LTV → inverted</a:t>
            </a:r>
          </a:p>
        </p:txBody>
      </p:sp>
      <p:pic>
        <p:nvPicPr>
          <p:cNvPr id="5" name="Picture 4" descr="E1_stratified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18682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 Regression  (12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Opposite-sign coefficients reveal misrepresentation in naive combined Cox</a:t>
            </a:r>
          </a:p>
        </p:txBody>
      </p:sp>
      <p:pic>
        <p:nvPicPr>
          <p:cNvPr id="5" name="Picture 4" descr="E1_cause_specific_c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0715275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E(i)(f) — Fine-Gray Subdistribution Hazard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IPCW-weighted Cox approximation; coefficients directly target the CIF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Subjects who experienced a competing event (default) are KEPT in the risk set with IPCW weights</a:t>
            </a:r>
          </a:p>
          <a:p>
            <a:pPr>
              <a:spcAft>
                <a:spcPts val="400"/>
              </a:spcAft>
              <a:defRPr sz="1400"/>
            </a:pPr>
            <a:r>
              <a:t>• The subdistribution hazard integrates to the CIF — covariate effects are CIF effects</a:t>
            </a:r>
          </a:p>
          <a:p>
            <a:pPr>
              <a:spcAft>
                <a:spcPts val="400"/>
              </a:spcAft>
              <a:defRPr sz="1400"/>
            </a:pPr>
            <a:r>
              <a:t>• rate_incentive HR is LARGER under Fine-Gray than cause-specific Cox:</a:t>
            </a:r>
          </a:p>
          <a:p>
            <a:pPr>
              <a:spcAft>
                <a:spcPts val="400"/>
              </a:spcAft>
              <a:defRPr sz="1400"/>
            </a:pPr>
            <a:r>
              <a:t>•    high-incentive loans are also less likely to default first → amplifies CIF effect</a:t>
            </a:r>
          </a:p>
          <a:p>
            <a:pPr>
              <a:spcAft>
                <a:spcPts val="400"/>
              </a:spcAft>
              <a:defRPr sz="1400"/>
            </a:pPr>
            <a:r>
              <a:t>• Low-FICO Fine-Gray HR for prepayment is ATTENUATED: elevated default risk reduces</a:t>
            </a:r>
          </a:p>
          <a:p>
            <a:pPr>
              <a:spcAft>
                <a:spcPts val="400"/>
              </a:spcAft>
              <a:defRPr sz="1400"/>
            </a:pPr>
            <a:r>
              <a:t>•    measured prepayment propensity once competing risks are accounted for</a:t>
            </a:r>
          </a:p>
          <a:p>
            <a:pPr>
              <a:spcAft>
                <a:spcPts val="400"/>
              </a:spcAft>
              <a:defRPr sz="1400"/>
            </a:pPr>
            <a:r>
              <a:t>• Use Fine-Gray for CIF prediction / loss forecasting</a:t>
            </a:r>
          </a:p>
          <a:p>
            <a:pPr>
              <a:spcAft>
                <a:spcPts val="400"/>
              </a:spcAft>
              <a:defRPr sz="1400"/>
            </a:pPr>
            <a:r>
              <a:t>• Use cause-specific Cox for economic mechanism estimation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Time-Dependent Covariates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Andersen-Gill counting-process Cox — monthly rate_incentive, unemployment, HPI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Panel dataset: 93M rows × 2M loans — mortgage_rate, unemployment, HPI YoY, rate_incentive updated monthly</a:t>
            </a:r>
          </a:p>
          <a:p>
            <a:pPr>
              <a:spcAft>
                <a:spcPts val="400"/>
              </a:spcAft>
              <a:defRPr sz="1300"/>
            </a:pPr>
            <a:r>
              <a:t>• 10,000 loans stratified by vintage → ~500K counting-process rows (tstart, tstop, event)</a:t>
            </a:r>
          </a:p>
          <a:p>
            <a:pPr>
              <a:spcAft>
                <a:spcPts val="400"/>
              </a:spcAft>
              <a:defRPr sz="1300"/>
            </a:pPr>
            <a:r>
              <a:t>• 11 features: 7 static (FICO, LTV, DTI, UPB + 3 one-hot) + 4 time-varying</a:t>
            </a:r>
          </a:p>
          <a:p>
            <a:pPr>
              <a:spcAft>
                <a:spcPts val="400"/>
              </a:spcAft>
              <a:defRPr sz="1300"/>
            </a:pPr>
            <a:r>
              <a:t>• Key finding: current rate_incentive coefficient LARGER than origination-vintage snapshot</a:t>
            </a:r>
          </a:p>
          <a:p>
            <a:pPr>
              <a:spcAft>
                <a:spcPts val="400"/>
              </a:spcAft>
              <a:defRPr sz="1300"/>
            </a:pPr>
            <a:r>
              <a:t>•    Static Cox: rate_incentive locked at origination — high-rate era loans always look attractive</a:t>
            </a:r>
          </a:p>
          <a:p>
            <a:pPr>
              <a:spcAft>
                <a:spcPts val="400"/>
              </a:spcAft>
              <a:defRPr sz="1300"/>
            </a:pPr>
            <a:r>
              <a:t>•    TV Cox: tracks actual monthly refi option value — more responsive to rate cycles</a:t>
            </a:r>
          </a:p>
          <a:p>
            <a:pPr>
              <a:spcAft>
                <a:spcPts val="400"/>
              </a:spcAft>
              <a:defRPr sz="1300"/>
            </a:pPr>
            <a:r>
              <a:t>• Unemployment: contemporaneous job loss predicts default better than vintage average</a:t>
            </a:r>
          </a:p>
          <a:p>
            <a:pPr>
              <a:spcAft>
                <a:spcPts val="400"/>
              </a:spcAft>
              <a:defRPr sz="1300"/>
            </a:pPr>
            <a:r>
              <a:t>• Limitation: origination LTV used (not ELTV) — adding current LTV would improve default hazard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Interest Rate Shocks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±100 bp and ±200 bp shocks to mortgage_rate  (rate_incentive updated consistently)</a:t>
            </a:r>
          </a:p>
        </p:txBody>
      </p:sp>
      <p:pic>
        <p:nvPicPr>
          <p:cNvPr id="5" name="Picture 4" descr="E2_scenario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39066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Interpretation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XGBoost: clear monotone CONVEX response — rate cuts raise prepayment probability more than rate rises suppress it</a:t>
            </a:r>
          </a:p>
          <a:p>
            <a:pPr>
              <a:spcAft>
                <a:spcPts val="400"/>
              </a:spcAft>
              <a:defRPr sz="1500"/>
            </a:pPr>
            <a:r>
              <a:t>• Deep Cox: monotone but smoother — log-hazard is a less non-linear function of rate_incentive</a:t>
            </a:r>
          </a:p>
          <a:p>
            <a:pPr>
              <a:spcAft>
                <a:spcPts val="400"/>
              </a:spcAft>
              <a:defRPr sz="1500"/>
            </a:pPr>
            <a:r>
              <a:t>• Asymmetry (−200 bp effect &gt; +200 bp effect) reflects the BURNOUT effect:</a:t>
            </a:r>
          </a:p>
          <a:p>
            <a:pPr>
              <a:spcAft>
                <a:spcPts val="400"/>
              </a:spcAft>
              <a:defRPr sz="1500"/>
            </a:pPr>
            <a:r>
              <a:t>•    most rate-sensitive borrowers have already prepaid → muted upside response to cuts</a:t>
            </a:r>
          </a:p>
          <a:p>
            <a:pPr>
              <a:spcAft>
                <a:spcPts val="400"/>
              </a:spcAft>
              <a:defRPr sz="1500"/>
            </a:pPr>
            <a:r>
              <a:t>• Both models agree on direction → robustness of rate-incentive channel across architectures</a:t>
            </a:r>
          </a:p>
          <a:p>
            <a:pPr>
              <a:spcAft>
                <a:spcPts val="400"/>
              </a:spcAft>
              <a:defRPr sz="1500"/>
            </a:pPr>
            <a:r>
              <a:t>• Implication for MBS pricing: prepayment option has POSITIVE CONVEXITY —</a:t>
            </a:r>
          </a:p>
          <a:p>
            <a:pPr>
              <a:spcAft>
                <a:spcPts val="400"/>
              </a:spcAft>
              <a:defRPr sz="1500"/>
            </a:pPr>
            <a:r>
              <a:t>•    rate decline creates more prepayment than rate rise suppresses 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" y="12801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80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Aalen-Johansen CIF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10-yr prepay ≈ 45%;  default ≈ 2%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8308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8288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KM vs AJ 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8288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KM over-estimates by +0.5–2.2 pp at 5–20 yr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33172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237744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3774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Stratified CIF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3774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Crisis vintages 8–12× higher default CIF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88036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" y="292608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260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Cause-specific Cox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9260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CreditScore / LTV opposite signs across causes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42900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" y="347472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74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Fine-Gray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4747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rate_incentive HR larger vs cause-specific Cox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97764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40233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0233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Andersen-Gill TV Cox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0233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Current rate_incentive &gt; origination snapshot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52628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8" y="45720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5720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Scenario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5720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Convex, asymmetric prepayment response to rate shocks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