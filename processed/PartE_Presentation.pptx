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MTH9877 — Interest Rates &amp;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Four extension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Full 34M-Loan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Freddie Mac FRM-360, 1999–2023</a:t>
            </a:r>
          </a:p>
        </p:txBody>
      </p:sp>
      <p:pic>
        <p:nvPicPr>
          <p:cNvPr id="5" name="Picture 4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32092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Covariate Profiles &amp; Loan Categories</a:t>
            </a:r>
          </a:p>
        </p:txBody>
      </p:sp>
      <p:pic>
        <p:nvPicPr>
          <p:cNvPr id="4" name="Picture 3" descr="E1_eda_covari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2038539"/>
          </a:xfrm>
          <a:prstGeom prst="rect">
            <a:avLst/>
          </a:prstGeom>
        </p:spPr>
      </p:pic>
      <p:pic>
        <p:nvPicPr>
          <p:cNvPr id="5" name="Picture 4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14045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2006–2008 vintages: peak default 8–12%; post-2012: near-zero default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2065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Correct competing-risks treatment; 10-yr prepay ≈ 45%,  default ≈ 2%</a:t>
            </a:r>
          </a:p>
        </p:txBody>
      </p:sp>
      <p:pic>
        <p:nvPicPr>
          <p:cNvPr id="5" name="Picture 4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343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Bias from Ignoring Competing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KM over-estimates prepayment CIF by treating defaults as independent censorings</a:t>
            </a:r>
          </a:p>
        </p:txBody>
      </p:sp>
      <p:pic>
        <p:nvPicPr>
          <p:cNvPr id="5" name="Picture 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402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4754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+2.23 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5" name="Picture 4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5" name="Picture 4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0715275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IPCW-weighted Cox approximation; coefficients directly target the CIF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5" name="Picture 4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Aalen-Johansen CIF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10-yr prepay ≈ 45%;  default ≈ 2%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KM vs AJ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KM over-estimates by +0.5–2.2 pp at 5–20 yr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Stratified CIF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Crisis vintages 8–12× higher default 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Cause-specific Cox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CreditScore / LTV opposite signs across causes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Fine-Gray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rate_incentive HR larger vs cause-specific Cox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Andersen-Gill TV Cox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Current rate_incentive &gt; origination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Scenario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