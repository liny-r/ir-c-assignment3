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2188952" cy="2286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4663440"/>
            <a:ext cx="12188952" cy="9144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8229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2F2F2"/>
                </a:solidFill>
              </a:rPr>
              <a:t>MTH9877 — Interest Rates &amp;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87168"/>
            <a:ext cx="103601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8932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2F2F2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Four extension tracks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Duration Distributions &amp; Covariate Profiles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Prepaid: median ~40 mo  |  Defaulted: median ~55 mo  |  full 34M-loan dataset</a:t>
            </a:r>
          </a:p>
        </p:txBody>
      </p:sp>
      <p:pic>
        <p:nvPicPr>
          <p:cNvPr id="6" name="Picture 5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11887200" cy="49385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Vintage Cohort &amp; Categorical Breakdown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315200" cy="3054615"/>
          </a:xfrm>
          <a:prstGeom prst="rect">
            <a:avLst/>
          </a:prstGeom>
        </p:spPr>
      </p:pic>
      <p:pic>
        <p:nvPicPr>
          <p:cNvPr id="6" name="Picture 5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051560"/>
            <a:ext cx="4389120" cy="16005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Hazard Intensity: Prepayment Peaks Early, Default Rises Slowly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Cause-specific Nelson-Aalen smooth · burnout visible in prepayment hazard · 100K sample</a:t>
            </a:r>
          </a:p>
        </p:txBody>
      </p:sp>
      <p:pic>
        <p:nvPicPr>
          <p:cNvPr id="6" name="Picture 5" descr="E1_hazard_over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62979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Stratified Hazard Intensity by FICO · LTV · Rate · Vintage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refinances fastest · High-LTV defaults persist longer · GFC vintages spike</a:t>
            </a:r>
          </a:p>
        </p:txBody>
      </p:sp>
      <p:pic>
        <p:nvPicPr>
          <p:cNvPr id="6" name="Picture 5" descr="E1_hazard_stratifi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406320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CIF: Formula &amp; Contrast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AJ correctly weights each increment by the overall survival probability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</a:rPr>
              <a:t>Kaplan-Meier  (INCORRECT — treats competing exits as censored)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82296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S_KM(t) = PROD_{t_i &lt;= t} (1 - d_i^(k) / n_i)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F_KM^(k)(t) = 1 - S_KM(t)    ← overcounts cause-k hazard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4231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F3963"/>
                </a:solidFill>
              </a:rPr>
              <a:t>Aalen-Johansen  (CORRECT)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788920"/>
            <a:ext cx="11612880" cy="141732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862072"/>
            <a:ext cx="114300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F_k(t) = SUM_{t_j &lt;= t}  S(t_j-)  *  d_{kj} / n_j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/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F_k(t) : CIF for cause k at loan age t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d_{kj} : cause-k exits at time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n_j    : loans at risk just before t_j</a:t>
            </a:r>
          </a:p>
          <a:p>
            <a:r>
              <a:rPr sz="1300">
                <a:solidFill>
                  <a:srgbClr val="1F3963"/>
                </a:solidFill>
                <a:latin typeface="Courier New"/>
              </a:rPr>
              <a:t>  S(t_j-): overall survival before t_j — uses ALL exits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27939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Partition identity  (impossible under KM):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4617720"/>
            <a:ext cx="11612880" cy="45720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469087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SUM_k  F_k(t)  +  S(t)  =  1    for all t</a:t>
            </a:r>
          </a:p>
        </p:txBody>
      </p:sp>
      <p:pic>
        <p:nvPicPr>
          <p:cNvPr id="16" name="Picture 1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512064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AJ CIF: 10-yr Prepay 83%  ·  Default 2.2%  ·  Active 14.5%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S_KM over-estimates each cause; AJ partition sums exactly to 1</a:t>
            </a:r>
          </a:p>
        </p:txBody>
      </p:sp>
      <p:pic>
        <p:nvPicPr>
          <p:cNvPr id="6" name="Picture 5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9632924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Why Defaults Cannot Be Treated as Censorings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Every AJ increment ≤ KM increment  →  F_AJ(t) ≤ F_KM(t)  →  growing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24128"/>
            <a:ext cx="12188952" cy="58338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14300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00000"/>
                </a:solidFill>
              </a:rPr>
              <a:t>KM increment at t_j  (defaults excluded from denominator n_j^KM &lt; n_j):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50876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8191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ΔF_KM(t_j)  =  S_KM(t_j-)  *  d_{1j} / n_j^KM    ← n_j^KM underestimates risk 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48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AJ increment at t_j  (overall survival, full risk set):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514600"/>
            <a:ext cx="11612880" cy="548640"/>
          </a:xfrm>
          <a:prstGeom prst="rect">
            <a:avLst/>
          </a:prstGeom>
          <a:solidFill>
            <a:srgbClr val="EE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587752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F3963"/>
                </a:solidFill>
                <a:latin typeface="Courier New"/>
              </a:rPr>
              <a:t>ΔF_AJ(t_j)   =  S(t_j-)     *  d_{1j} / n_j      ← S(t_j-) ≤ S_KM(t_j-) always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5468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Consequence — bias compounds over time: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520440"/>
            <a:ext cx="11612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 KM over-estimates prepayment CIF by ~+0.45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bias ≈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bias ≈ +2.23 pp  (gap widens as defaulted loans accumulate)</a:t>
            </a:r>
          </a:p>
        </p:txBody>
      </p:sp>
      <p:pic>
        <p:nvPicPr>
          <p:cNvPr id="15" name="Picture 1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572000"/>
            <a:ext cx="11612880" cy="35135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6" name="Picture 5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Prepayment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Rate incentive &amp; Purchase purpose → highest refi hazard  ·  12 features  ·  95% CI</a:t>
            </a:r>
          </a:p>
        </p:txBody>
      </p:sp>
      <p:pic>
        <p:nvPicPr>
          <p:cNvPr id="6" name="Picture 5" descr="E1_cox_prep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25049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Cox: Default  (sorted ascending)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LTV &amp; DTI → highest default hazard  ·  CreditScore opposite sign to prepayment</a:t>
            </a:r>
          </a:p>
        </p:txBody>
      </p:sp>
      <p:pic>
        <p:nvPicPr>
          <p:cNvPr id="6" name="Picture 5" descr="E1_cox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8404513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IPCW-weighted Cox approximation; coefficients directly target the CIF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5" name="Picture 4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6" name="Picture 5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2F2F2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6" name="Picture 5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88952" cy="6400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5486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Aalen-Johansen CIF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10-yr prepay ≈ 45%;  default ≈ 2%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KM vs AJ bias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KM over-estimates by +0.5–2.2 pp at 5–20 yr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Stratified CIF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Crisis vintages 8–12× higher default CIF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Cause-specific Cox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CreditScore / LTV opposite signs across causes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Fine-Gray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rate_incentive HR larger vs cause-specific Cox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Andersen-Gill TV Cox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Current rate_incentive &gt; origination snapshot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1F39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F3963"/>
                </a:solidFill>
              </a:rPr>
              <a:t>Scenario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F3963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