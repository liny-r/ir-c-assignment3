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1031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MTH9877 — Interest Rates &amp; 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Four extension tracks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Defaulted Borrowers Are Riskier on Every Dimension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FICO 44 pts lower · LTV 8.6 pp higher · DTI 4.6 pp higher · Rate 0.85 pp higher</a:t>
            </a:r>
          </a:p>
        </p:txBody>
      </p:sp>
      <p:pic>
        <p:nvPicPr>
          <p:cNvPr id="5" name="Picture 4" descr="E1_eda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9684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Different Timescales, Different 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Prepayment = rate-option exercise (~40 mo median)  |  Default = financial stress (30–80 mo)</a:t>
            </a:r>
          </a:p>
        </p:txBody>
      </p:sp>
      <p:pic>
        <p:nvPicPr>
          <p:cNvPr id="5" name="Picture 4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50997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The Equity Trap &amp; Rate Lock-In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High LTV removes refi escape · Active loans at 4.4% cannot refinance into 7%+ market</a:t>
            </a:r>
          </a:p>
        </p:txBody>
      </p:sp>
      <p:pic>
        <p:nvPicPr>
          <p:cNvPr id="5" name="Picture 4" descr="E1_eda_ltv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5943600" cy="2807590"/>
          </a:xfrm>
          <a:prstGeom prst="rect">
            <a:avLst/>
          </a:prstGeom>
        </p:spPr>
      </p:pic>
      <p:pic>
        <p:nvPicPr>
          <p:cNvPr id="6" name="Picture 5" descr="E1_eda_rate_loc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760720" cy="24713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GFC Vintages Carry Concentrated Default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2007 cohort = 6× long-run avg default rate · Post-2013 near-zero · Post-2020 rate-locked</a:t>
            </a:r>
          </a:p>
        </p:txBody>
      </p:sp>
      <p:pic>
        <p:nvPicPr>
          <p:cNvPr id="5" name="Picture 4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4059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Covariate Profiles &amp; Loan Categories</a:t>
            </a:r>
          </a:p>
        </p:txBody>
      </p:sp>
      <p:pic>
        <p:nvPicPr>
          <p:cNvPr id="4" name="Picture 3" descr="E1_eda_covari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2038539"/>
          </a:xfrm>
          <a:prstGeom prst="rect">
            <a:avLst/>
          </a:prstGeom>
        </p:spPr>
      </p:pic>
      <p:pic>
        <p:nvPicPr>
          <p:cNvPr id="5" name="Picture 4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14042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Correct competing-risks treatment; 10-yr prepay ≈ 45%,  default ≈ 2%</a:t>
            </a:r>
          </a:p>
        </p:txBody>
      </p:sp>
      <p:pic>
        <p:nvPicPr>
          <p:cNvPr id="5" name="Picture 4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343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Bias from Ignoring Competing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KM over-estimates prepayment CIF by treating defaults as independent censorings</a:t>
            </a:r>
          </a:p>
        </p:txBody>
      </p:sp>
      <p:pic>
        <p:nvPicPr>
          <p:cNvPr id="5" name="Picture 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402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4754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+2.23 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5" name="Picture 4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68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 Regression  (12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Opposite-sign coefficients reveal misrepresentation in naive combined Cox</a:t>
            </a:r>
          </a:p>
        </p:txBody>
      </p:sp>
      <p:pic>
        <p:nvPicPr>
          <p:cNvPr id="5" name="Picture 4" descr="E1_cause_specific_c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12880" cy="38605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IPCW-weighted Cox approximation; coefficients directly target the CIF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Subjects who experienced a competing event (default) are KEPT in the risk set with IPCW weights</a:t>
            </a:r>
          </a:p>
          <a:p>
            <a:pPr>
              <a:spcAft>
                <a:spcPts val="400"/>
              </a:spcAft>
              <a:defRPr sz="1400"/>
            </a:pPr>
            <a:r>
              <a:t>• The subdistribution hazard integrates to the CIF — covariate effects are CIF effects</a:t>
            </a:r>
          </a:p>
          <a:p>
            <a:pPr>
              <a:spcAft>
                <a:spcPts val="400"/>
              </a:spcAft>
              <a:defRPr sz="1400"/>
            </a:pPr>
            <a:r>
              <a:t>• rate_incentive HR is LARGER under Fine-Gray than cause-specific Cox:</a:t>
            </a:r>
          </a:p>
          <a:p>
            <a:pPr>
              <a:spcAft>
                <a:spcPts val="400"/>
              </a:spcAft>
              <a:defRPr sz="1400"/>
            </a:pPr>
            <a:r>
              <a:t>•    high-incentive loans are also less likely to default first → amplifies CIF effect</a:t>
            </a:r>
          </a:p>
          <a:p>
            <a:pPr>
              <a:spcAft>
                <a:spcPts val="400"/>
              </a:spcAft>
              <a:defRPr sz="1400"/>
            </a:pPr>
            <a:r>
              <a:t>• Low-FICO Fine-Gray HR for prepayment is ATTENUATED: elevated default risk reduces</a:t>
            </a:r>
          </a:p>
          <a:p>
            <a:pPr>
              <a:spcAft>
                <a:spcPts val="400"/>
              </a:spcAft>
              <a:defRPr sz="1400"/>
            </a:pPr>
            <a:r>
              <a:t>•    measured prepayment propensity once competing risks are accounted for</a:t>
            </a:r>
          </a:p>
          <a:p>
            <a:pPr>
              <a:spcAft>
                <a:spcPts val="400"/>
              </a:spcAft>
              <a:defRPr sz="14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4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TV Cox Results</a:t>
            </a:r>
          </a:p>
        </p:txBody>
      </p:sp>
      <p:pic>
        <p:nvPicPr>
          <p:cNvPr id="4" name="Picture 3" descr="Eii_tv_cox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3013704"/>
          </a:xfrm>
          <a:prstGeom prst="rect">
            <a:avLst/>
          </a:prstGeom>
        </p:spPr>
      </p:pic>
      <p:pic>
        <p:nvPicPr>
          <p:cNvPr id="5" name="Picture 4" descr="Eii_static_vs_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22473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5" name="Picture 4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Aalen-Johansen CIF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10-yr prepay ≈ 45%;  default ≈ 2%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KM vs AJ 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KM over-estimates by +0.5–2.2 pp at 5–20 yr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Stratified CIF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Crisis vintages 8–12× higher default 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Cause-specific Cox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CreditScore / LTV opposite signs across causes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Fine-Gray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rate_incentive HR larger vs cause-specific Cox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Andersen-Gill TV Cox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Current rate_incentive &gt; origination snapshot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Scenario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