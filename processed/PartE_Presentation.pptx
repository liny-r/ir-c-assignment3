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88952" cy="914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77440"/>
            <a:ext cx="12188952" cy="2286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663440"/>
            <a:ext cx="12188952" cy="914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82296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2F2F2"/>
                </a:solidFill>
              </a:rPr>
              <a:t>MTH9877 — Interest Rates &amp; 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103601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Assignment 3 — Part E Extensions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87168"/>
            <a:ext cx="103601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</a:rPr>
              <a:t>Mortgage Prepayment &amp; Default  |  Survival Analysis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98932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2F2F2"/>
                </a:solidFill>
              </a:rPr>
              <a:t>Rose Lin  ·  Baruch MFE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Part E —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Four extension tracks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/>
            </a:pPr>
            <a:r>
              <a:t>• E(i)   Competing Risks Framework — Aalen-Johansen CIF, KM bias, stratified CIF, cause-specific Cox, Fine-Gray</a:t>
            </a:r>
          </a:p>
          <a:p>
            <a:pPr>
              <a:spcAft>
                <a:spcPts val="400"/>
              </a:spcAft>
              <a:defRPr sz="1700"/>
            </a:pPr>
            <a:r>
              <a:t>• E(ii)  Time-Dependent Covariates — Andersen-Gill counting-process Cox with monthly macro</a:t>
            </a:r>
          </a:p>
          <a:p>
            <a:pPr>
              <a:spcAft>
                <a:spcPts val="400"/>
              </a:spcAft>
              <a:defRPr sz="1700"/>
            </a:pPr>
            <a:r>
              <a:t>• E(iii) Neural Survival Models — DeepHit framework (architecture overview)</a:t>
            </a:r>
          </a:p>
          <a:p>
            <a:pPr>
              <a:spcAft>
                <a:spcPts val="400"/>
              </a:spcAft>
              <a:defRPr sz="1700"/>
            </a:pPr>
            <a:r>
              <a:t>• E(iv)  Scenario Analysis — Prepayment sensitivity to ±200 bp rate shocks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Duration Distributions &amp; Covariate Profiles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Prepaid: median ~40 mo  |  Defaulted: median ~55 mo  |  full 34M-loan dataset</a:t>
            </a:r>
          </a:p>
        </p:txBody>
      </p:sp>
      <p:pic>
        <p:nvPicPr>
          <p:cNvPr id="6" name="Picture 5" descr="E1_eda_d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11887200" cy="36966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Vintage Cohort &amp; Categorical Breakdown</a:t>
            </a:r>
          </a:p>
        </p:txBody>
      </p:sp>
      <p:pic>
        <p:nvPicPr>
          <p:cNvPr id="5" name="Picture 4" descr="E1_eda_vin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7315200" cy="2499743"/>
          </a:xfrm>
          <a:prstGeom prst="rect">
            <a:avLst/>
          </a:prstGeom>
        </p:spPr>
      </p:pic>
      <p:pic>
        <p:nvPicPr>
          <p:cNvPr id="6" name="Picture 5" descr="E1_eda_categori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051560"/>
            <a:ext cx="4389120" cy="16005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Hazard Intensity: Prepayment Peaks Early, Default Rises Slowly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Cause-specific Nelson-Aalen smooth · burnout visible in prepayment hazard · 100K sample</a:t>
            </a:r>
          </a:p>
        </p:txBody>
      </p:sp>
      <p:pic>
        <p:nvPicPr>
          <p:cNvPr id="6" name="Picture 5" descr="E1_hazard_over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36297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Stratified Hazard Intensity by FICO · LTV · Rate · Vintage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High-FICO refinances fastest · High-LTV defaults persist longer · GFC vintages spike</a:t>
            </a:r>
          </a:p>
        </p:txBody>
      </p:sp>
      <p:pic>
        <p:nvPicPr>
          <p:cNvPr id="6" name="Picture 5" descr="E1_hazard_stratif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4063204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E(i)(b) — Aalen-Johansen CIF: Formula &amp; Contrast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AJ correctly weights each increment by the overall survival probability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4128"/>
            <a:ext cx="12188952" cy="58338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430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00000"/>
                </a:solidFill>
              </a:rPr>
              <a:t>Kaplan-Meier  (INCORRECT — treats competing exits as censored)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08760"/>
            <a:ext cx="11612880" cy="82296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81912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S_KM(t) = PROD_{t_i &lt;= t} (1 - d_i^(k) / n_i)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F_KM^(k)(t) = 1 - S_KM(t)    ← overcounts cause-k hazard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42316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963"/>
                </a:solidFill>
              </a:rPr>
              <a:t>Aalen-Johansen  (CORRECT)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788920"/>
            <a:ext cx="11612880" cy="141732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862072"/>
            <a:ext cx="11430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F_k(t) = SUM_{t_j &lt;= t}  S(t_j-)  *  d_{kj} / n_j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  F_k(t) : CIF for cause k at loan age t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  d_{kj} : cause-k exits at time t_j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  n_j    : loans at risk just before t_j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  S(t_j-): overall survival before t_j — uses ALL exits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279392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Partition identity  (impossible under KM):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617720"/>
            <a:ext cx="11612880" cy="45720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46908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SUM_k  F_k(t)  +  S(t)  =  1    for all t</a:t>
            </a:r>
          </a:p>
        </p:txBody>
      </p:sp>
      <p:pic>
        <p:nvPicPr>
          <p:cNvPr id="16" name="Picture 15" descr="E1_competing_risks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120640"/>
            <a:ext cx="9632924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E(i)(b) — AJ CIF: 10-yr Prepay 83%  ·  Default 2.2%  ·  Active 14.5%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S_KM over-estimates each cause; AJ partition sums exactly to 1</a:t>
            </a:r>
          </a:p>
        </p:txBody>
      </p:sp>
      <p:pic>
        <p:nvPicPr>
          <p:cNvPr id="6" name="Picture 5" descr="E1_competing_risks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9632924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E(i)(c) — KM vs AJ: Why Defaults Cannot Be Treated as Censorings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Every AJ increment ≤ KM increment  →  F_AJ(t) ≤ F_KM(t)  →  growing bias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4128"/>
            <a:ext cx="12188952" cy="58338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430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</a:rPr>
              <a:t>KM increment at t_j  (defaults excluded from denominator n_j^KM &lt; n_j):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08760"/>
            <a:ext cx="11612880" cy="54864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81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ΔF_KM(t_j)  =  S_KM(t_j-)  *  d_{1j} / n_j^KM    ← n_j^KM underestimates risk 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1488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AJ increment at t_j  (overall survival, full risk set):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514600"/>
            <a:ext cx="11612880" cy="54864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58775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ΔF_AJ(t_j)   =  S(t_j-)     *  d_{1j} / n_j      ← S(t_j-) ≤ S_KM(t_j-) always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15468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Consequence — bias compounds over time: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520440"/>
            <a:ext cx="11612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• 5 yr:  KM over-estimates prepayment CIF by ~+0.45 pp</a:t>
            </a:r>
          </a:p>
          <a:p>
            <a:pPr>
              <a:spcAft>
                <a:spcPts val="400"/>
              </a:spcAft>
              <a:defRPr sz="1300"/>
            </a:pPr>
            <a:r>
              <a:t>• 10 yr: bias ≈ +1.31 pp</a:t>
            </a:r>
          </a:p>
          <a:p>
            <a:pPr>
              <a:spcAft>
                <a:spcPts val="400"/>
              </a:spcAft>
              <a:defRPr sz="1300"/>
            </a:pPr>
            <a:r>
              <a:t>• 20 yr: bias ≈ +2.23 pp  (gap widens as defaulted loans accumulate)</a:t>
            </a:r>
          </a:p>
        </p:txBody>
      </p:sp>
      <p:pic>
        <p:nvPicPr>
          <p:cNvPr id="15" name="Picture 14" descr="E1_km_vs_aj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572000"/>
            <a:ext cx="11612880" cy="351359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E(i)(d) — Stratified CIF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High-FICO → elevated prepayment, near-zero default;  high-LTV → inverted</a:t>
            </a:r>
          </a:p>
        </p:txBody>
      </p:sp>
      <p:pic>
        <p:nvPicPr>
          <p:cNvPr id="6" name="Picture 5" descr="E1_stratified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5186826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E(i)(e) — Cause-Specific Cox Regression  (12 features)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Opposite-sign coefficients reveal misrepresentation in naive combined Cox</a:t>
            </a:r>
          </a:p>
        </p:txBody>
      </p:sp>
      <p:pic>
        <p:nvPicPr>
          <p:cNvPr id="6" name="Picture 5" descr="E1_cause_specific_c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11612880" cy="386056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E(i)(f) — Fine-Gray Subdistribution Hazard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IPCW-weighted Cox approximation; coefficients directly target the CIF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Subjects who experienced a competing event (default) are KEPT in the risk set with IPCW weights</a:t>
            </a:r>
          </a:p>
          <a:p>
            <a:pPr>
              <a:spcAft>
                <a:spcPts val="400"/>
              </a:spcAft>
              <a:defRPr sz="1400"/>
            </a:pPr>
            <a:r>
              <a:t>• The subdistribution hazard integrates to the CIF — covariate effects are CIF effects</a:t>
            </a:r>
          </a:p>
          <a:p>
            <a:pPr>
              <a:spcAft>
                <a:spcPts val="400"/>
              </a:spcAft>
              <a:defRPr sz="1400"/>
            </a:pPr>
            <a:r>
              <a:t>• rate_incentive HR is LARGER under Fine-Gray than cause-specific Cox:</a:t>
            </a:r>
          </a:p>
          <a:p>
            <a:pPr>
              <a:spcAft>
                <a:spcPts val="400"/>
              </a:spcAft>
              <a:defRPr sz="1400"/>
            </a:pPr>
            <a:r>
              <a:t>•    high-incentive loans are also less likely to default first → amplifies CIF effect</a:t>
            </a:r>
          </a:p>
          <a:p>
            <a:pPr>
              <a:spcAft>
                <a:spcPts val="400"/>
              </a:spcAft>
              <a:defRPr sz="1400"/>
            </a:pPr>
            <a:r>
              <a:t>• Low-FICO Fine-Gray HR for prepayment is ATTENUATED: elevated default risk reduces</a:t>
            </a:r>
          </a:p>
          <a:p>
            <a:pPr>
              <a:spcAft>
                <a:spcPts val="400"/>
              </a:spcAft>
              <a:defRPr sz="1400"/>
            </a:pPr>
            <a:r>
              <a:t>•    measured prepayment propensity once competing risks are accounted for</a:t>
            </a:r>
          </a:p>
          <a:p>
            <a:pPr>
              <a:spcAft>
                <a:spcPts val="400"/>
              </a:spcAft>
              <a:defRPr sz="1400"/>
            </a:pPr>
            <a:r>
              <a:t>• Use Fine-Gray for CIF prediction / loss forecasting</a:t>
            </a:r>
          </a:p>
          <a:p>
            <a:pPr>
              <a:spcAft>
                <a:spcPts val="400"/>
              </a:spcAft>
              <a:defRPr sz="1400"/>
            </a:pPr>
            <a:r>
              <a:t>• Use cause-specific Cox for economic mechanism estimation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E(ii) — Time-Dependent Covariates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Andersen-Gill counting-process Cox — monthly rate_incentive, unemployment, HPI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• Panel dataset: 93M rows × 2M loans — mortgage_rate, unemployment, HPI YoY, rate_incentive updated monthly</a:t>
            </a:r>
          </a:p>
          <a:p>
            <a:pPr>
              <a:spcAft>
                <a:spcPts val="400"/>
              </a:spcAft>
              <a:defRPr sz="1300"/>
            </a:pPr>
            <a:r>
              <a:t>• 10,000 loans stratified by vintage → ~500K counting-process rows (tstart, tstop, event)</a:t>
            </a:r>
          </a:p>
          <a:p>
            <a:pPr>
              <a:spcAft>
                <a:spcPts val="400"/>
              </a:spcAft>
              <a:defRPr sz="1300"/>
            </a:pPr>
            <a:r>
              <a:t>• 11 features: 7 static (FICO, LTV, DTI, UPB + 3 one-hot) + 4 time-varying</a:t>
            </a:r>
          </a:p>
          <a:p>
            <a:pPr>
              <a:spcAft>
                <a:spcPts val="400"/>
              </a:spcAft>
              <a:defRPr sz="1300"/>
            </a:pPr>
            <a:r>
              <a:t>• Key finding: current rate_incentive coefficient LARGER than origination-vintage snapshot</a:t>
            </a:r>
          </a:p>
          <a:p>
            <a:pPr>
              <a:spcAft>
                <a:spcPts val="400"/>
              </a:spcAft>
              <a:defRPr sz="1300"/>
            </a:pPr>
            <a:r>
              <a:t>•    Static Cox: rate_incentive locked at origination — high-rate era loans always look attractive</a:t>
            </a:r>
          </a:p>
          <a:p>
            <a:pPr>
              <a:spcAft>
                <a:spcPts val="400"/>
              </a:spcAft>
              <a:defRPr sz="1300"/>
            </a:pPr>
            <a:r>
              <a:t>•    TV Cox: tracks actual monthly refi option value — more responsive to rate cycles</a:t>
            </a:r>
          </a:p>
          <a:p>
            <a:pPr>
              <a:spcAft>
                <a:spcPts val="400"/>
              </a:spcAft>
              <a:defRPr sz="1300"/>
            </a:pPr>
            <a:r>
              <a:t>• Unemployment: contemporaneous job loss predicts default better than vintage average</a:t>
            </a:r>
          </a:p>
          <a:p>
            <a:pPr>
              <a:spcAft>
                <a:spcPts val="400"/>
              </a:spcAft>
              <a:defRPr sz="1300"/>
            </a:pPr>
            <a:r>
              <a:t>• Limitation: origination LTV used (not ELTV) — adding current LTV would improve default hazard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E(ii) — TV Cox Results</a:t>
            </a:r>
          </a:p>
        </p:txBody>
      </p:sp>
      <p:pic>
        <p:nvPicPr>
          <p:cNvPr id="5" name="Picture 4" descr="Eii_tv_cox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7132320" cy="3013704"/>
          </a:xfrm>
          <a:prstGeom prst="rect">
            <a:avLst/>
          </a:prstGeom>
        </p:spPr>
      </p:pic>
      <p:pic>
        <p:nvPicPr>
          <p:cNvPr id="6" name="Picture 5" descr="Eii_static_vs_t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051560"/>
            <a:ext cx="4572000" cy="224738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E(iv) — Scenario Analysis: Interest Rate Shocks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±100 bp and ±200 bp shocks to mortgage_rate  (rate_incentive updated consistently)</a:t>
            </a:r>
          </a:p>
        </p:txBody>
      </p:sp>
      <p:pic>
        <p:nvPicPr>
          <p:cNvPr id="6" name="Picture 5" descr="E2_scenario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11247120" cy="390669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E(iv) — Scenario Analysis: Interpretation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/>
            </a:pPr>
            <a:r>
              <a:t>• XGBoost: clear monotone CONVEX response — rate cuts raise prepayment probability more than rate rises suppress it</a:t>
            </a:r>
          </a:p>
          <a:p>
            <a:pPr>
              <a:spcAft>
                <a:spcPts val="400"/>
              </a:spcAft>
              <a:defRPr sz="1500"/>
            </a:pPr>
            <a:r>
              <a:t>• Deep Cox: monotone but smoother — log-hazard is a less non-linear function of rate_incentive</a:t>
            </a:r>
          </a:p>
          <a:p>
            <a:pPr>
              <a:spcAft>
                <a:spcPts val="400"/>
              </a:spcAft>
              <a:defRPr sz="1500"/>
            </a:pPr>
            <a:r>
              <a:t>• Asymmetry (−200 bp effect &gt; +200 bp effect) reflects the BURNOUT effect:</a:t>
            </a:r>
          </a:p>
          <a:p>
            <a:pPr>
              <a:spcAft>
                <a:spcPts val="400"/>
              </a:spcAft>
              <a:defRPr sz="1500"/>
            </a:pPr>
            <a:r>
              <a:t>•    most rate-sensitive borrowers have already prepaid → muted upside response to cuts</a:t>
            </a:r>
          </a:p>
          <a:p>
            <a:pPr>
              <a:spcAft>
                <a:spcPts val="400"/>
              </a:spcAft>
              <a:defRPr sz="1500"/>
            </a:pPr>
            <a:r>
              <a:t>• Both models agree on direction → robustness of rate-incentive channel across architectures</a:t>
            </a:r>
          </a:p>
          <a:p>
            <a:pPr>
              <a:spcAft>
                <a:spcPts val="400"/>
              </a:spcAft>
              <a:defRPr sz="1500"/>
            </a:pPr>
            <a:r>
              <a:t>• Implication for MBS pricing: prepayment option has POSITIVE CONVEXITY —</a:t>
            </a:r>
          </a:p>
          <a:p>
            <a:pPr>
              <a:spcAft>
                <a:spcPts val="400"/>
              </a:spcAft>
              <a:defRPr sz="1500"/>
            </a:pPr>
            <a:r>
              <a:t>•    rate decline creates more prepayment than rate rise suppresses 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28016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2801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Aalen-Johansen CIF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2801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10-yr prepay ≈ 45%;  default ≈ 2%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78308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182880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8288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KM vs AJ bias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18288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KM over-estimates by +0.5–2.2 pp at 5–20 yr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33172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" y="237744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37744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Stratified CIF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237744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Crisis vintages 8–12× higher default CIF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88036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" y="292608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29260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Cause-specific Cox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92608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CreditScore / LTV opposite signs across causes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42900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608" y="347472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4747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Fine-Gray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347472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rate_incentive HR larger vs cause-specific Cox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97764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2608" y="402336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40233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Andersen-Gill TV Cox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40233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Current rate_incentive &gt; origination snapshot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52628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2608" y="457200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E(iv)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5720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Scenario analysis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45720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Convex, asymmetric prepayment response to rate shocks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